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7052"/>
          </a:solidFill>
          <a:ln>
            <a:solidFill>
              <a:srgbClr val="2C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0"/>
            <a:ext cx="3962095" cy="6858000"/>
          </a:xfrm>
          <a:prstGeom prst="rect">
            <a:avLst/>
          </a:prstGeom>
          <a:solidFill>
            <a:srgbClr val="E6F0E9"/>
          </a:solidFill>
          <a:ln>
            <a:solidFill>
              <a:srgbClr val="E6F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69494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C7052"/>
                </a:solidFill>
                <a:latin typeface="Aptos"/>
              </a:rPr>
              <a:t>INFORMATION RETRIEVAL ?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7132320" cy="1417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E2723"/>
                </a:solidFill>
                <a:latin typeface="Aptos"/>
              </a:rPr>
              <a:t>arXiv Scientific
Paper Search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5B6760"/>
                </a:solidFill>
                <a:latin typeface="Aptos"/>
              </a:rPr>
              <a:t>A browser-based research search system using TF-IDF, cosine similarity, and category filters.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251960"/>
            <a:ext cx="1188720" cy="329184"/>
          </a:xfrm>
          <a:prstGeom prst="roundRect">
            <a:avLst>
              <a:gd name="adj" fmla="val 8000"/>
            </a:avLst>
          </a:prstGeom>
          <a:solidFill>
            <a:srgbClr val="E6F0E9"/>
          </a:solidFill>
          <a:ln>
            <a:solidFill>
              <a:srgbClr val="E6F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4306824"/>
            <a:ext cx="1078992" cy="1920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C7052"/>
                </a:solidFill>
                <a:latin typeface="Aptos"/>
              </a:rPr>
              <a:t>TF-IDF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4251960"/>
            <a:ext cx="1828800" cy="329184"/>
          </a:xfrm>
          <a:prstGeom prst="roundRect">
            <a:avLst>
              <a:gd name="adj" fmla="val 8000"/>
            </a:avLst>
          </a:prstGeom>
          <a:solidFill>
            <a:srgbClr val="E6F0E9"/>
          </a:solidFill>
          <a:ln>
            <a:solidFill>
              <a:srgbClr val="E6F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03704" y="4306824"/>
            <a:ext cx="1719072" cy="1920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C7052"/>
                </a:solidFill>
                <a:latin typeface="Aptos"/>
              </a:rPr>
              <a:t>COSINE RANKING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4251960"/>
            <a:ext cx="1645920" cy="329184"/>
          </a:xfrm>
          <a:prstGeom prst="roundRect">
            <a:avLst>
              <a:gd name="adj" fmla="val 8000"/>
            </a:avLst>
          </a:prstGeom>
          <a:solidFill>
            <a:srgbClr val="E6F0E9"/>
          </a:solidFill>
          <a:ln>
            <a:solidFill>
              <a:srgbClr val="E6F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9663" y="4306824"/>
            <a:ext cx="1536192" cy="1920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C7052"/>
                </a:solidFill>
                <a:latin typeface="Aptos"/>
              </a:rPr>
              <a:t>FLASK WEB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89320"/>
            <a:ext cx="67665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C7052"/>
                </a:solidFill>
                <a:latin typeface="Aptos"/>
              </a:rPr>
              <a:t>GitHub: Arnav-Milmile/search_engine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2057400"/>
            <a:ext cx="265176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700" b="1">
                <a:solidFill>
                  <a:srgbClr val="2C7052"/>
                </a:solidFill>
                <a:latin typeface="Aptos"/>
              </a:rPr>
              <a:t>10,000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2560320"/>
            <a:ext cx="265176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5B6760"/>
                </a:solidFill>
                <a:latin typeface="Aptos"/>
              </a:rPr>
              <a:t>ARXIV PAPERS IN THE SAMPLE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6840" y="3246120"/>
            <a:ext cx="2103120" cy="18288"/>
          </a:xfrm>
          <a:prstGeom prst="rect">
            <a:avLst/>
          </a:prstGeom>
          <a:solidFill>
            <a:srgbClr val="C0D2C6"/>
          </a:solidFill>
          <a:ln>
            <a:solidFill>
              <a:srgbClr val="C0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32520" y="3611880"/>
            <a:ext cx="265176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E2723"/>
                </a:solidFill>
                <a:latin typeface="Aptos"/>
              </a:rPr>
              <a:t>Search ? Rank ? Explore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C7052"/>
          </a:solidFill>
          <a:ln>
            <a:solidFill>
              <a:srgbClr val="2C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9848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C7052"/>
                </a:solidFill>
                <a:latin typeface="Aptos"/>
              </a:rPr>
              <a:t>01 ?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22376"/>
            <a:ext cx="10881360" cy="5760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E2723"/>
                </a:solidFill>
                <a:latin typeface="Aptos"/>
              </a:rPr>
              <a:t>Why build a paper search engine?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53312"/>
            <a:ext cx="1069848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760"/>
                </a:solidFill>
                <a:latin typeface="Aptos"/>
              </a:rPr>
              <a:t>Research search should return useful papers first?not just documents that happen to contain a word.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46520"/>
            <a:ext cx="10881360" cy="10972"/>
          </a:xfrm>
          <a:prstGeom prst="rect">
            <a:avLst/>
          </a:prstGeom>
          <a:solidFill>
            <a:srgbClr val="DAE1DC"/>
          </a:solidFill>
          <a:ln>
            <a:solidFill>
              <a:srgbClr val="D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10528"/>
            <a:ext cx="98755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760"/>
                </a:solidFill>
                <a:latin typeface="Aptos"/>
              </a:rPr>
              <a:t>arXiv Scientific Paper Search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6400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760"/>
                </a:solidFill>
                <a:latin typeface="Aptos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65960"/>
            <a:ext cx="507492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965960"/>
            <a:ext cx="50292" cy="3429000"/>
          </a:xfrm>
          <a:prstGeom prst="rect">
            <a:avLst/>
          </a:prstGeom>
          <a:solidFill>
            <a:srgbClr val="BE882E"/>
          </a:solidFill>
          <a:ln>
            <a:solidFill>
              <a:srgbClr val="BE8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130552"/>
            <a:ext cx="4690872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23"/>
                </a:solidFill>
                <a:latin typeface="Aptos"/>
              </a:rPr>
              <a:t>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542032"/>
            <a:ext cx="4690872" cy="27340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B6760"/>
                </a:solidFill>
                <a:latin typeface="Aptos"/>
              </a:rPr>
              <a:t>A large research collection makes discovery difficult. Exact keyword matching can miss useful ranking signals and leaves readers to sift through results manually.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07492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65960"/>
            <a:ext cx="50292" cy="3429000"/>
          </a:xfrm>
          <a:prstGeom prst="rect">
            <a:avLst/>
          </a:prstGeom>
          <a:solidFill>
            <a:srgbClr val="2C7052"/>
          </a:solidFill>
          <a:ln>
            <a:solidFill>
              <a:srgbClr val="2C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2130552"/>
            <a:ext cx="4690872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23"/>
                </a:solidFill>
                <a:latin typeface="Aptos"/>
              </a:rPr>
              <a:t>Project objectives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542032"/>
            <a:ext cx="4690872" cy="27340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5B6760"/>
                </a:solidFill>
                <a:latin typeface="Aptos"/>
              </a:rPr>
              <a:t>? Search paper titles and abstracts
? Rank results by query relevance
? Filter by arXiv category
? Evaluate retrieval quality
? Provide a simple browser interface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C7052"/>
          </a:solidFill>
          <a:ln>
            <a:solidFill>
              <a:srgbClr val="2C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9848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C7052"/>
                </a:solidFill>
                <a:latin typeface="Aptos"/>
              </a:rPr>
              <a:t>02 ?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22376"/>
            <a:ext cx="10881360" cy="5760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E2723"/>
                </a:solidFill>
                <a:latin typeface="Aptos"/>
              </a:rPr>
              <a:t>Dataset and searchable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53312"/>
            <a:ext cx="1069848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760"/>
                </a:solidFill>
                <a:latin typeface="Aptos"/>
              </a:rPr>
              <a:t>A manageable arXiv sample supports local indexing, evaluation, and interactive demos.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46520"/>
            <a:ext cx="10881360" cy="10972"/>
          </a:xfrm>
          <a:prstGeom prst="rect">
            <a:avLst/>
          </a:prstGeom>
          <a:solidFill>
            <a:srgbClr val="DAE1DC"/>
          </a:solidFill>
          <a:ln>
            <a:solidFill>
              <a:srgbClr val="D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10528"/>
            <a:ext cx="98755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760"/>
                </a:solidFill>
                <a:latin typeface="Aptos"/>
              </a:rPr>
              <a:t>arXiv Scientific Paper Search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6400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760"/>
                </a:solidFill>
                <a:latin typeface="Aptos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74519"/>
            <a:ext cx="34290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874519"/>
            <a:ext cx="50292" cy="1828800"/>
          </a:xfrm>
          <a:prstGeom prst="rect">
            <a:avLst/>
          </a:prstGeom>
          <a:solidFill>
            <a:srgbClr val="2C7052"/>
          </a:solidFill>
          <a:ln>
            <a:solidFill>
              <a:srgbClr val="2C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039112"/>
            <a:ext cx="3044952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23"/>
                </a:solidFill>
                <a:latin typeface="Aptos"/>
              </a:rPr>
              <a:t>10,000 papers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450591"/>
            <a:ext cx="3044952" cy="11338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760"/>
                </a:solidFill>
                <a:latin typeface="Aptos"/>
              </a:rPr>
              <a:t>Sample fetched from the public arXiv API.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74519"/>
            <a:ext cx="34290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874519"/>
            <a:ext cx="50292" cy="1828800"/>
          </a:xfrm>
          <a:prstGeom prst="rect">
            <a:avLst/>
          </a:prstGeom>
          <a:solidFill>
            <a:srgbClr val="2C7052"/>
          </a:solidFill>
          <a:ln>
            <a:solidFill>
              <a:srgbClr val="2C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2039112"/>
            <a:ext cx="3044952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23"/>
                </a:solidFill>
                <a:latin typeface="Aptos"/>
              </a:rPr>
              <a:t>Core fields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450591"/>
            <a:ext cx="3044952" cy="11338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760"/>
                </a:solidFill>
                <a:latin typeface="Aptos"/>
              </a:rPr>
              <a:t>doc_id ? title ? abstract ? categories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1874519"/>
            <a:ext cx="34290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1874519"/>
            <a:ext cx="50292" cy="1828800"/>
          </a:xfrm>
          <a:prstGeom prst="rect">
            <a:avLst/>
          </a:prstGeom>
          <a:solidFill>
            <a:srgbClr val="2C7052"/>
          </a:solidFill>
          <a:ln>
            <a:solidFill>
              <a:srgbClr val="2C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6448" y="2039112"/>
            <a:ext cx="3044952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23"/>
                </a:solidFill>
                <a:latin typeface="Aptos"/>
              </a:rPr>
              <a:t>Broad coverage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8" y="2450591"/>
            <a:ext cx="3044952" cy="11338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760"/>
                </a:solidFill>
                <a:latin typeface="Aptos"/>
              </a:rPr>
              <a:t>Computer science, physics, math, and related categories.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60520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2C7052"/>
                </a:solidFill>
                <a:latin typeface="Aptos"/>
              </a:rPr>
              <a:t>Search text = paper title + abstract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892040"/>
            <a:ext cx="1005840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5B6760"/>
                </a:solidFill>
                <a:latin typeface="Aptos"/>
              </a:rPr>
              <a:t>The CSV is included in the public repository; the downloader can refresh it from arXiv.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C7052"/>
          </a:solidFill>
          <a:ln>
            <a:solidFill>
              <a:srgbClr val="2C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9848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C7052"/>
                </a:solidFill>
                <a:latin typeface="Aptos"/>
              </a:rPr>
              <a:t>03 ?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22376"/>
            <a:ext cx="10881360" cy="5760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E2723"/>
                </a:solidFill>
                <a:latin typeface="Aptos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53312"/>
            <a:ext cx="1069848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760"/>
                </a:solidFill>
                <a:latin typeface="Aptos"/>
              </a:rPr>
              <a:t>The backend prepares a TF-IDF index once, then transforms each submitted query for ranking.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46520"/>
            <a:ext cx="10881360" cy="10972"/>
          </a:xfrm>
          <a:prstGeom prst="rect">
            <a:avLst/>
          </a:prstGeom>
          <a:solidFill>
            <a:srgbClr val="DAE1DC"/>
          </a:solidFill>
          <a:ln>
            <a:solidFill>
              <a:srgbClr val="D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10528"/>
            <a:ext cx="98755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760"/>
                </a:solidFill>
                <a:latin typeface="Aptos"/>
              </a:rPr>
              <a:t>arXiv Scientific Paper Search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6400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760"/>
                </a:solidFill>
                <a:latin typeface="Aptos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331720"/>
            <a:ext cx="16916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41148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C7052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816352"/>
            <a:ext cx="14173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E2723"/>
                </a:solidFill>
                <a:latin typeface="Aptos"/>
              </a:rPr>
              <a:t>arXiv sample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282696"/>
            <a:ext cx="1536192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760"/>
                </a:solidFill>
                <a:latin typeface="Aptos"/>
              </a:rPr>
              <a:t>CSV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862072"/>
            <a:ext cx="429768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2C7052"/>
                </a:solidFill>
                <a:latin typeface="Aptos"/>
              </a:rPr>
              <a:t>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99232" y="2331720"/>
            <a:ext cx="16916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87168"/>
            <a:ext cx="41148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C7052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45536" y="2816352"/>
            <a:ext cx="14173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E2723"/>
                </a:solidFill>
                <a:latin typeface="Aptos"/>
              </a:rPr>
              <a:t>Text corpus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2384" y="3282696"/>
            <a:ext cx="1536192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760"/>
                </a:solidFill>
                <a:latin typeface="Aptos"/>
              </a:rPr>
              <a:t>Title + abstract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4024" y="2862072"/>
            <a:ext cx="429768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2C7052"/>
                </a:solidFill>
                <a:latin typeface="Aptos"/>
              </a:rPr>
              <a:t>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48656" y="2331720"/>
            <a:ext cx="16916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0" y="2487168"/>
            <a:ext cx="41148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C7052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2816352"/>
            <a:ext cx="14173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E2723"/>
                </a:solidFill>
                <a:latin typeface="Aptos"/>
              </a:rPr>
              <a:t>TF-IDF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21808" y="3282696"/>
            <a:ext cx="1536192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760"/>
                </a:solidFill>
                <a:latin typeface="Aptos"/>
              </a:rPr>
              <a:t>Document vectors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3448" y="2862072"/>
            <a:ext cx="429768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2C7052"/>
                </a:solidFill>
                <a:latin typeface="Aptos"/>
              </a:rPr>
              <a:t>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2331720"/>
            <a:ext cx="16916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44383" y="2487168"/>
            <a:ext cx="41148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C7052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44383" y="2816352"/>
            <a:ext cx="14173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E2723"/>
                </a:solidFill>
                <a:latin typeface="Aptos"/>
              </a:rPr>
              <a:t>Similarity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71231" y="3282696"/>
            <a:ext cx="1536192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760"/>
                </a:solidFill>
                <a:latin typeface="Aptos"/>
              </a:rPr>
              <a:t>Cosine ranking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2872" y="2862072"/>
            <a:ext cx="429768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2C7052"/>
                </a:solidFill>
                <a:latin typeface="Aptos"/>
              </a:rPr>
              <a:t>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47504" y="2331720"/>
            <a:ext cx="16916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93808" y="2487168"/>
            <a:ext cx="41148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C7052"/>
                </a:solidFill>
                <a:latin typeface="Apto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93808" y="2816352"/>
            <a:ext cx="14173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E2723"/>
                </a:solidFill>
                <a:latin typeface="Aptos"/>
              </a:rPr>
              <a:t>Web 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0656" y="3282696"/>
            <a:ext cx="1536192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760"/>
                </a:solidFill>
                <a:latin typeface="Aptos"/>
              </a:rPr>
              <a:t>Filter + arXiv links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28800" y="4617720"/>
            <a:ext cx="8503920" cy="713232"/>
          </a:xfrm>
          <a:prstGeom prst="roundRect">
            <a:avLst>
              <a:gd name="adj" fmla="val 8000"/>
            </a:avLst>
          </a:prstGeom>
          <a:solidFill>
            <a:srgbClr val="E6F0E9"/>
          </a:solidFill>
          <a:ln>
            <a:solidFill>
              <a:srgbClr val="E6F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57400" y="4791456"/>
            <a:ext cx="8046720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C7052"/>
                </a:solidFill>
                <a:latin typeface="Aptos"/>
              </a:rPr>
              <a:t>Flask serves the page and JSON APIs ? Scikit-learn handles vectorization and similarity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C7052"/>
          </a:solidFill>
          <a:ln>
            <a:solidFill>
              <a:srgbClr val="2C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9848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C7052"/>
                </a:solidFill>
                <a:latin typeface="Aptos"/>
              </a:rPr>
              <a:t>04 ?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22376"/>
            <a:ext cx="10881360" cy="5760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E2723"/>
                </a:solidFill>
                <a:latin typeface="Aptos"/>
              </a:rPr>
              <a:t>Preparing and indexing papers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53312"/>
            <a:ext cx="1069848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760"/>
                </a:solidFill>
                <a:latin typeface="Aptos"/>
              </a:rPr>
              <a:t>Two related representations support the project: a manual inverted index and an ML text-vector index.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46520"/>
            <a:ext cx="10881360" cy="10972"/>
          </a:xfrm>
          <a:prstGeom prst="rect">
            <a:avLst/>
          </a:prstGeom>
          <a:solidFill>
            <a:srgbClr val="DAE1DC"/>
          </a:solidFill>
          <a:ln>
            <a:solidFill>
              <a:srgbClr val="D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10528"/>
            <a:ext cx="98755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760"/>
                </a:solidFill>
                <a:latin typeface="Aptos"/>
              </a:rPr>
              <a:t>arXiv Scientific Paper Search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6400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760"/>
                </a:solidFill>
                <a:latin typeface="Aptos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74519"/>
            <a:ext cx="507492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874519"/>
            <a:ext cx="50292" cy="3291840"/>
          </a:xfrm>
          <a:prstGeom prst="rect">
            <a:avLst/>
          </a:prstGeom>
          <a:solidFill>
            <a:srgbClr val="2C7052"/>
          </a:solidFill>
          <a:ln>
            <a:solidFill>
              <a:srgbClr val="2C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039112"/>
            <a:ext cx="4690872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23"/>
                </a:solidFill>
                <a:latin typeface="Aptos"/>
              </a:rPr>
              <a:t>Inverted index scripts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450591"/>
            <a:ext cx="4690872" cy="2596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5B6760"/>
                </a:solidFill>
                <a:latin typeface="Aptos"/>
              </a:rPr>
              <a:t>? Tokenize lowercase alphabetic words
? Count each term per document ID
? Save postings as inverted_index.json
? Plot the most frequent terms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874519"/>
            <a:ext cx="507492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874519"/>
            <a:ext cx="50292" cy="3291840"/>
          </a:xfrm>
          <a:prstGeom prst="rect">
            <a:avLst/>
          </a:prstGeom>
          <a:solidFill>
            <a:srgbClr val="2C7052"/>
          </a:solidFill>
          <a:ln>
            <a:solidFill>
              <a:srgbClr val="2C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2039112"/>
            <a:ext cx="4690872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23"/>
                </a:solidFill>
                <a:latin typeface="Aptos"/>
              </a:rPr>
              <a:t>Web search 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450591"/>
            <a:ext cx="4690872" cy="2596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5B6760"/>
                </a:solidFill>
                <a:latin typeface="Aptos"/>
              </a:rPr>
              <a:t>? Combine title and abstract
? Fit TfidfVectorizer on the corpus
? Store document vectors in memory
? Transform user queries with the same vocabulary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C7052"/>
          </a:solidFill>
          <a:ln>
            <a:solidFill>
              <a:srgbClr val="2C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9848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C7052"/>
                </a:solidFill>
                <a:latin typeface="Aptos"/>
              </a:rPr>
              <a:t>05 ? RETRIEVAL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22376"/>
            <a:ext cx="10881360" cy="5760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E2723"/>
                </a:solidFill>
                <a:latin typeface="Aptos"/>
              </a:rPr>
              <a:t>TF-IDF: weighting useful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53312"/>
            <a:ext cx="1069848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760"/>
                </a:solidFill>
                <a:latin typeface="Aptos"/>
              </a:rPr>
              <a:t>Term weighting makes distinctive vocabulary more influential than words appearing everywhere.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46520"/>
            <a:ext cx="10881360" cy="10972"/>
          </a:xfrm>
          <a:prstGeom prst="rect">
            <a:avLst/>
          </a:prstGeom>
          <a:solidFill>
            <a:srgbClr val="DAE1DC"/>
          </a:solidFill>
          <a:ln>
            <a:solidFill>
              <a:srgbClr val="D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10528"/>
            <a:ext cx="98755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760"/>
                </a:solidFill>
                <a:latin typeface="Aptos"/>
              </a:rPr>
              <a:t>arXiv Scientific Paper Search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6400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760"/>
                </a:solidFill>
                <a:latin typeface="Aptos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74519"/>
            <a:ext cx="34290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874519"/>
            <a:ext cx="50292" cy="2011680"/>
          </a:xfrm>
          <a:prstGeom prst="rect">
            <a:avLst/>
          </a:prstGeom>
          <a:solidFill>
            <a:srgbClr val="2C7052"/>
          </a:solidFill>
          <a:ln>
            <a:solidFill>
              <a:srgbClr val="2C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039112"/>
            <a:ext cx="3044952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23"/>
                </a:solidFill>
                <a:latin typeface="Aptos"/>
              </a:rPr>
              <a:t>Term Frequency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450591"/>
            <a:ext cx="3044952" cy="13167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B6760"/>
                </a:solidFill>
                <a:latin typeface="Aptos"/>
              </a:rPr>
              <a:t>How often a word appears in a document.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74519"/>
            <a:ext cx="34290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874519"/>
            <a:ext cx="50292" cy="2011680"/>
          </a:xfrm>
          <a:prstGeom prst="rect">
            <a:avLst/>
          </a:prstGeom>
          <a:solidFill>
            <a:srgbClr val="2C7052"/>
          </a:solidFill>
          <a:ln>
            <a:solidFill>
              <a:srgbClr val="2C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2039112"/>
            <a:ext cx="3044952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23"/>
                </a:solidFill>
                <a:latin typeface="Aptos"/>
              </a:rPr>
              <a:t>Inverse Document Frequency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450591"/>
            <a:ext cx="3044952" cy="13167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760"/>
                </a:solidFill>
                <a:latin typeface="Aptos"/>
              </a:rPr>
              <a:t>Reduces weight for words common across many documents.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1874519"/>
            <a:ext cx="34290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1874519"/>
            <a:ext cx="50292" cy="2011680"/>
          </a:xfrm>
          <a:prstGeom prst="rect">
            <a:avLst/>
          </a:prstGeom>
          <a:solidFill>
            <a:srgbClr val="2C7052"/>
          </a:solidFill>
          <a:ln>
            <a:solidFill>
              <a:srgbClr val="2C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6448" y="2039112"/>
            <a:ext cx="3044952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23"/>
                </a:solidFill>
                <a:latin typeface="Aptos"/>
              </a:rPr>
              <a:t>Project settings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8" y="2450591"/>
            <a:ext cx="3044952" cy="13167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760"/>
                </a:solidFill>
                <a:latin typeface="Aptos"/>
              </a:rPr>
              <a:t>English stopwords removed; min_df = 5.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17320" y="4389120"/>
            <a:ext cx="9326880" cy="914400"/>
          </a:xfrm>
          <a:prstGeom prst="roundRect">
            <a:avLst>
              <a:gd name="adj" fmla="val 8000"/>
            </a:avLst>
          </a:prstGeom>
          <a:solidFill>
            <a:srgbClr val="E6F0E9"/>
          </a:solidFill>
          <a:ln>
            <a:solidFill>
              <a:srgbClr val="E6F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91640" y="4636008"/>
            <a:ext cx="877824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2C7052"/>
                </a:solidFill>
                <a:latin typeface="Aptos"/>
              </a:rPr>
              <a:t>Document text  ?  weighted vector  ?  user query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C7052"/>
          </a:solidFill>
          <a:ln>
            <a:solidFill>
              <a:srgbClr val="2C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9848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C7052"/>
                </a:solidFill>
                <a:latin typeface="Aptos"/>
              </a:rPr>
              <a:t>06 ? QUERY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22376"/>
            <a:ext cx="10881360" cy="5760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E2723"/>
                </a:solidFill>
                <a:latin typeface="Aptos"/>
              </a:rPr>
              <a:t>Ranking with cosine similarity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53312"/>
            <a:ext cx="1069848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760"/>
                </a:solidFill>
                <a:latin typeface="Aptos"/>
              </a:rPr>
              <a:t>The query vector is compared with document vectors; higher scores appear earlier in the result list.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46520"/>
            <a:ext cx="10881360" cy="10972"/>
          </a:xfrm>
          <a:prstGeom prst="rect">
            <a:avLst/>
          </a:prstGeom>
          <a:solidFill>
            <a:srgbClr val="DAE1DC"/>
          </a:solidFill>
          <a:ln>
            <a:solidFill>
              <a:srgbClr val="D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10528"/>
            <a:ext cx="98755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760"/>
                </a:solidFill>
                <a:latin typeface="Aptos"/>
              </a:rPr>
              <a:t>arXiv Scientific Paper Search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6400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760"/>
                </a:solidFill>
                <a:latin typeface="Aptos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20240"/>
            <a:ext cx="329184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920240"/>
            <a:ext cx="50292" cy="2148840"/>
          </a:xfrm>
          <a:prstGeom prst="rect">
            <a:avLst/>
          </a:prstGeom>
          <a:solidFill>
            <a:srgbClr val="2C7052"/>
          </a:solidFill>
          <a:ln>
            <a:solidFill>
              <a:srgbClr val="2C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084832"/>
            <a:ext cx="2907792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23"/>
                </a:solidFill>
                <a:latin typeface="Aptos"/>
              </a:rPr>
              <a:t>1 ? Transform 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496312"/>
            <a:ext cx="2907792" cy="1453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760"/>
                </a:solidFill>
                <a:latin typeface="Aptos"/>
              </a:rPr>
              <a:t>Use the fitted corpus vectorizer to create a query vector.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920240"/>
            <a:ext cx="329184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920240"/>
            <a:ext cx="50292" cy="2148840"/>
          </a:xfrm>
          <a:prstGeom prst="rect">
            <a:avLst/>
          </a:prstGeom>
          <a:solidFill>
            <a:srgbClr val="2C7052"/>
          </a:solidFill>
          <a:ln>
            <a:solidFill>
              <a:srgbClr val="2C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7" y="2084832"/>
            <a:ext cx="2907792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23"/>
                </a:solidFill>
                <a:latin typeface="Aptos"/>
              </a:rPr>
              <a:t>2 ? Compare vectors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2496312"/>
            <a:ext cx="2907792" cy="1453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760"/>
                </a:solidFill>
                <a:latin typeface="Aptos"/>
              </a:rPr>
              <a:t>Calculate cosine similarity between query and papers.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920240"/>
            <a:ext cx="329184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920240"/>
            <a:ext cx="50292" cy="2148840"/>
          </a:xfrm>
          <a:prstGeom prst="rect">
            <a:avLst/>
          </a:prstGeom>
          <a:solidFill>
            <a:srgbClr val="2C7052"/>
          </a:solidFill>
          <a:ln>
            <a:solidFill>
              <a:srgbClr val="2C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2084832"/>
            <a:ext cx="2907792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23"/>
                </a:solidFill>
                <a:latin typeface="Aptos"/>
              </a:rPr>
              <a:t>3 ? Sort results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496312"/>
            <a:ext cx="2907792" cy="1453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760"/>
                </a:solidFill>
                <a:latin typeface="Aptos"/>
              </a:rPr>
              <a:t>Filter optional category, then return top 10, 20, or 30.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754880"/>
            <a:ext cx="996696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>
                <a:solidFill>
                  <a:srgbClr val="5B6760"/>
                </a:solidFill>
                <a:latin typeface="Aptos"/>
              </a:rPr>
              <a:t>Cosine similarity measures the angle-based alignment of two vectors.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C7052"/>
          </a:solidFill>
          <a:ln>
            <a:solidFill>
              <a:srgbClr val="2C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9848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C7052"/>
                </a:solidFill>
                <a:latin typeface="Aptos"/>
              </a:rPr>
              <a:t>07 ? USER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22376"/>
            <a:ext cx="10881360" cy="5760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E2723"/>
                </a:solidFill>
                <a:latin typeface="Aptos"/>
              </a:rPr>
              <a:t>A simple browser search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53312"/>
            <a:ext cx="1069848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760"/>
                </a:solidFill>
                <a:latin typeface="Aptos"/>
              </a:rPr>
              <a:t>The interface keeps the main workflow direct: search, optionally filter, inspect, and open a paper.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46520"/>
            <a:ext cx="10881360" cy="10972"/>
          </a:xfrm>
          <a:prstGeom prst="rect">
            <a:avLst/>
          </a:prstGeom>
          <a:solidFill>
            <a:srgbClr val="DAE1DC"/>
          </a:solidFill>
          <a:ln>
            <a:solidFill>
              <a:srgbClr val="D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10528"/>
            <a:ext cx="98755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760"/>
                </a:solidFill>
                <a:latin typeface="Aptos"/>
              </a:rPr>
              <a:t>arXiv Scientific Paper Search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6400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760"/>
                </a:solidFill>
                <a:latin typeface="Aptos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783080"/>
            <a:ext cx="1033272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783080"/>
            <a:ext cx="50292" cy="804672"/>
          </a:xfrm>
          <a:prstGeom prst="rect">
            <a:avLst/>
          </a:prstGeom>
          <a:solidFill>
            <a:srgbClr val="2C7052"/>
          </a:solidFill>
          <a:ln>
            <a:solidFill>
              <a:srgbClr val="2C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1947672"/>
            <a:ext cx="9948672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23"/>
                </a:solidFill>
                <a:latin typeface="Aptos"/>
              </a:rPr>
              <a:t>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359152"/>
            <a:ext cx="9948672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760"/>
                </a:solidFill>
                <a:latin typeface="Aptos"/>
              </a:rPr>
              <a:t>Enter a topic, method, or phrase.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770632"/>
            <a:ext cx="1033272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2770632"/>
            <a:ext cx="50292" cy="804672"/>
          </a:xfrm>
          <a:prstGeom prst="rect">
            <a:avLst/>
          </a:prstGeom>
          <a:solidFill>
            <a:srgbClr val="2C7052"/>
          </a:solidFill>
          <a:ln>
            <a:solidFill>
              <a:srgbClr val="2C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2935224"/>
            <a:ext cx="9948672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23"/>
                </a:solidFill>
                <a:latin typeface="Aptos"/>
              </a:rPr>
              <a:t>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3346704"/>
            <a:ext cx="9948672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760"/>
                </a:solidFill>
                <a:latin typeface="Aptos"/>
              </a:rPr>
              <a:t>Choose any category present in the sample.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758184"/>
            <a:ext cx="1033272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3758184"/>
            <a:ext cx="50292" cy="804672"/>
          </a:xfrm>
          <a:prstGeom prst="rect">
            <a:avLst/>
          </a:prstGeom>
          <a:solidFill>
            <a:srgbClr val="2C7052"/>
          </a:solidFill>
          <a:ln>
            <a:solidFill>
              <a:srgbClr val="2C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3922776"/>
            <a:ext cx="9948672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23"/>
                </a:solidFill>
                <a:latin typeface="Aptos"/>
              </a:rPr>
              <a:t>Inspect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4334256"/>
            <a:ext cx="9948672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760"/>
                </a:solidFill>
                <a:latin typeface="Aptos"/>
              </a:rPr>
              <a:t>Read title, abstract, ID, category tags, and match score.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745736"/>
            <a:ext cx="1033272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" y="4745736"/>
            <a:ext cx="50292" cy="804672"/>
          </a:xfrm>
          <a:prstGeom prst="rect">
            <a:avLst/>
          </a:prstGeom>
          <a:solidFill>
            <a:srgbClr val="2C7052"/>
          </a:solidFill>
          <a:ln>
            <a:solidFill>
              <a:srgbClr val="2C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" y="4910328"/>
            <a:ext cx="9948672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23"/>
                </a:solidFill>
                <a:latin typeface="Aptos"/>
              </a:rPr>
              <a:t>Continue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" y="5321808"/>
            <a:ext cx="9948672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760"/>
                </a:solidFill>
                <a:latin typeface="Aptos"/>
              </a:rPr>
              <a:t>Open the selected paper on arXiv.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C7052"/>
          </a:solidFill>
          <a:ln>
            <a:solidFill>
              <a:srgbClr val="2C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9848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C7052"/>
                </a:solidFill>
                <a:latin typeface="Aptos"/>
              </a:rPr>
              <a:t>08 ?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22376"/>
            <a:ext cx="10881360" cy="5760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E2723"/>
                </a:solidFill>
                <a:latin typeface="Aptos"/>
              </a:rPr>
              <a:t>How retrieval is evaluated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53312"/>
            <a:ext cx="1069848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760"/>
                </a:solidFill>
                <a:latin typeface="Aptos"/>
              </a:rPr>
              <a:t>Predefined queries are assessed using category membership as a practical, approximate relevance label.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46520"/>
            <a:ext cx="10881360" cy="10972"/>
          </a:xfrm>
          <a:prstGeom prst="rect">
            <a:avLst/>
          </a:prstGeom>
          <a:solidFill>
            <a:srgbClr val="DAE1DC"/>
          </a:solidFill>
          <a:ln>
            <a:solidFill>
              <a:srgbClr val="D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10528"/>
            <a:ext cx="98755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760"/>
                </a:solidFill>
                <a:latin typeface="Aptos"/>
              </a:rPr>
              <a:t>arXiv Scientific Paper Search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6400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760"/>
                </a:solidFill>
                <a:latin typeface="Aptos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65960"/>
            <a:ext cx="48920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965960"/>
            <a:ext cx="50292" cy="1188720"/>
          </a:xfrm>
          <a:prstGeom prst="rect">
            <a:avLst/>
          </a:prstGeom>
          <a:solidFill>
            <a:srgbClr val="2C7052"/>
          </a:solidFill>
          <a:ln>
            <a:solidFill>
              <a:srgbClr val="2C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2130552"/>
            <a:ext cx="4507992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23"/>
                </a:solidFill>
                <a:latin typeface="Aptos"/>
              </a:rPr>
              <a:t>P@5 / P@10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542032"/>
            <a:ext cx="4507992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760"/>
                </a:solidFill>
                <a:latin typeface="Aptos"/>
              </a:rPr>
              <a:t>Relevant results in top 5 / top 10.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965960"/>
            <a:ext cx="48920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965960"/>
            <a:ext cx="50292" cy="1188720"/>
          </a:xfrm>
          <a:prstGeom prst="rect">
            <a:avLst/>
          </a:prstGeom>
          <a:solidFill>
            <a:srgbClr val="2C7052"/>
          </a:solidFill>
          <a:ln>
            <a:solidFill>
              <a:srgbClr val="2C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130552"/>
            <a:ext cx="4507992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23"/>
                </a:solidFill>
                <a:latin typeface="Aptos"/>
              </a:rPr>
              <a:t>Recall@10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542032"/>
            <a:ext cx="4507992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760"/>
                </a:solidFill>
                <a:latin typeface="Aptos"/>
              </a:rPr>
              <a:t>Relevant top-10 papers divided by relevant papers in the sample.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474720"/>
            <a:ext cx="48920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3474720"/>
            <a:ext cx="50292" cy="1188720"/>
          </a:xfrm>
          <a:prstGeom prst="rect">
            <a:avLst/>
          </a:prstGeom>
          <a:solidFill>
            <a:srgbClr val="2C7052"/>
          </a:solidFill>
          <a:ln>
            <a:solidFill>
              <a:srgbClr val="2C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3639312"/>
            <a:ext cx="4507992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23"/>
                </a:solidFill>
                <a:latin typeface="Aptos"/>
              </a:rPr>
              <a:t>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4050791"/>
            <a:ext cx="4507992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760"/>
                </a:solidFill>
                <a:latin typeface="Aptos"/>
              </a:rPr>
              <a:t>Precision at each relevant rank, averaged for a query.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474720"/>
            <a:ext cx="48920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474720"/>
            <a:ext cx="50292" cy="1188720"/>
          </a:xfrm>
          <a:prstGeom prst="rect">
            <a:avLst/>
          </a:prstGeom>
          <a:solidFill>
            <a:srgbClr val="2C7052"/>
          </a:solidFill>
          <a:ln>
            <a:solidFill>
              <a:srgbClr val="2C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639312"/>
            <a:ext cx="4507992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23"/>
                </a:solidFill>
                <a:latin typeface="Aptos"/>
              </a:rPr>
              <a:t>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050791"/>
            <a:ext cx="4507992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760"/>
                </a:solidFill>
                <a:latin typeface="Aptos"/>
              </a:rPr>
              <a:t>Mean Average Precision across the query set.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394960"/>
            <a:ext cx="1014984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BE882E"/>
                </a:solidFill>
                <a:latin typeface="Aptos"/>
              </a:rPr>
              <a:t>Category labels are a proxy; they are not human relevance judgments.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C7052"/>
          </a:solidFill>
          <a:ln>
            <a:solidFill>
              <a:srgbClr val="2C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9848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C7052"/>
                </a:solidFill>
                <a:latin typeface="Aptos"/>
              </a:rPr>
              <a:t>09 ?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22376"/>
            <a:ext cx="10881360" cy="5760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E2723"/>
                </a:solidFill>
                <a:latin typeface="Aptos"/>
              </a:rPr>
              <a:t>Observed baseline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53312"/>
            <a:ext cx="1069848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760"/>
                </a:solidFill>
                <a:latin typeface="Aptos"/>
              </a:rPr>
              <a:t>One recorded run over the 10,000-paper sample produced the following metrics.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46520"/>
            <a:ext cx="10881360" cy="10972"/>
          </a:xfrm>
          <a:prstGeom prst="rect">
            <a:avLst/>
          </a:prstGeom>
          <a:solidFill>
            <a:srgbClr val="DAE1DC"/>
          </a:solidFill>
          <a:ln>
            <a:solidFill>
              <a:srgbClr val="D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10528"/>
            <a:ext cx="98755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760"/>
                </a:solidFill>
                <a:latin typeface="Aptos"/>
              </a:rPr>
              <a:t>arXiv Scientific Paper Search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6400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760"/>
                </a:solidFill>
                <a:latin typeface="Aptos"/>
              </a:rPr>
              <a:t>10</a:t>
            </a:r>
          </a:p>
        </p:txBody>
      </p:sp>
      <p:pic>
        <p:nvPicPr>
          <p:cNvPr id="9" name="Picture 8" descr="step3_evaluation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691640"/>
            <a:ext cx="7132320" cy="35661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183879" y="1920240"/>
            <a:ext cx="2971800" cy="1143000"/>
          </a:xfrm>
          <a:prstGeom prst="roundRect">
            <a:avLst>
              <a:gd name="adj" fmla="val 8000"/>
            </a:avLst>
          </a:prstGeom>
          <a:solidFill>
            <a:srgbClr val="E6F0E9"/>
          </a:solidFill>
          <a:ln>
            <a:solidFill>
              <a:srgbClr val="E6F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327" y="2057400"/>
            <a:ext cx="265176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2C7052"/>
                </a:solidFill>
                <a:latin typeface="Aptos"/>
              </a:rPr>
              <a:t>0.9592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7" y="2606040"/>
            <a:ext cx="26517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5B6760"/>
                </a:solidFill>
                <a:latin typeface="Aptos"/>
              </a:rPr>
              <a:t>REPORTED GLOBAL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429000"/>
            <a:ext cx="2834640" cy="1417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760"/>
                </a:solidFill>
                <a:latin typeface="Aptos"/>
              </a:rPr>
              <a:t>Matrix shape
10,000 ? 12,084
Results depend on current query set and category-based evaluation.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715000"/>
            <a:ext cx="1033272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BE882E"/>
                </a:solidFill>
                <a:latin typeface="Aptos"/>
              </a:rPr>
              <a:t>Treat this as a project run result?not a manually validated benchmark claim.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C7052"/>
          </a:solidFill>
          <a:ln>
            <a:solidFill>
              <a:srgbClr val="2C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9848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C7052"/>
                </a:solidFill>
                <a:latin typeface="Aptos"/>
              </a:rPr>
              <a:t>10 ?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22376"/>
            <a:ext cx="10881360" cy="5760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E2723"/>
                </a:solidFill>
                <a:latin typeface="Aptos"/>
              </a:rPr>
              <a:t>Ablation: preprocessing choices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53312"/>
            <a:ext cx="1069848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760"/>
                </a:solidFill>
                <a:latin typeface="Aptos"/>
              </a:rPr>
              <a:t>Recorded MAP values differ across the four tested configurations; interpretation is dataset-specific.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46520"/>
            <a:ext cx="10881360" cy="10972"/>
          </a:xfrm>
          <a:prstGeom prst="rect">
            <a:avLst/>
          </a:prstGeom>
          <a:solidFill>
            <a:srgbClr val="DAE1DC"/>
          </a:solidFill>
          <a:ln>
            <a:solidFill>
              <a:srgbClr val="D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10528"/>
            <a:ext cx="98755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760"/>
                </a:solidFill>
                <a:latin typeface="Aptos"/>
              </a:rPr>
              <a:t>arXiv Scientific Paper Search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6400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760"/>
                </a:solidFill>
                <a:latin typeface="Aptos"/>
              </a:rPr>
              <a:t>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234440" y="1828800"/>
          <a:ext cx="960120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3200400"/>
              </a:tblGrid>
              <a:tr h="630936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Configuration</a:t>
                      </a:r>
                    </a:p>
                  </a:txBody>
                  <a:tcPr marL="146304" marR="109728" marT="91440" marB="73152">
                    <a:solidFill>
                      <a:srgbClr val="2C70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MAP</a:t>
                      </a:r>
                    </a:p>
                  </a:txBody>
                  <a:tcPr marL="146304" marR="109728" marT="91440" marB="73152">
                    <a:solidFill>
                      <a:srgbClr val="2C7052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E2723"/>
                          </a:solidFill>
                          <a:latin typeface="Aptos"/>
                        </a:rPr>
                        <a:t>Raw ? no preprocessing</a:t>
                      </a:r>
                    </a:p>
                  </a:txBody>
                  <a:tcPr marL="146304" marR="109728" marT="91440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E2723"/>
                          </a:solidFill>
                          <a:latin typeface="Aptos"/>
                        </a:rPr>
                        <a:t>0.9471</a:t>
                      </a:r>
                    </a:p>
                  </a:txBody>
                  <a:tcPr marL="146304" marR="109728" marT="91440" marB="7315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E2723"/>
                          </a:solidFill>
                          <a:latin typeface="Aptos"/>
                        </a:rPr>
                        <a:t>Stopwords only</a:t>
                      </a:r>
                    </a:p>
                  </a:txBody>
                  <a:tcPr marL="146304" marR="109728" marT="91440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E2723"/>
                          </a:solidFill>
                          <a:latin typeface="Aptos"/>
                        </a:rPr>
                        <a:t>0.9391</a:t>
                      </a:r>
                    </a:p>
                  </a:txBody>
                  <a:tcPr marL="146304" marR="109728" marT="91440" marB="7315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E2723"/>
                          </a:solidFill>
                          <a:latin typeface="Aptos"/>
                        </a:rPr>
                        <a:t>Stemming only</a:t>
                      </a:r>
                    </a:p>
                  </a:txBody>
                  <a:tcPr marL="146304" marR="109728" marT="91440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E2723"/>
                          </a:solidFill>
                          <a:latin typeface="Aptos"/>
                        </a:rPr>
                        <a:t>0.9187</a:t>
                      </a:r>
                    </a:p>
                  </a:txBody>
                  <a:tcPr marL="146304" marR="109728" marT="91440" marB="7315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E2723"/>
                          </a:solidFill>
                          <a:latin typeface="Aptos"/>
                        </a:rPr>
                        <a:t>Stopwords + stemming</a:t>
                      </a:r>
                    </a:p>
                  </a:txBody>
                  <a:tcPr marL="146304" marR="109728" marT="91440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E2723"/>
                          </a:solidFill>
                          <a:latin typeface="Aptos"/>
                        </a:rPr>
                        <a:t>0.9280</a:t>
                      </a:r>
                    </a:p>
                  </a:txBody>
                  <a:tcPr marL="146304" marR="109728" marT="91440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280160" y="5349240"/>
            <a:ext cx="960120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760"/>
                </a:solidFill>
                <a:latin typeface="Aptos"/>
              </a:rPr>
              <a:t>Raw text led in this run; this does not prove preprocessing is generally harmful.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C7052"/>
          </a:solidFill>
          <a:ln>
            <a:solidFill>
              <a:srgbClr val="2C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9848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C7052"/>
                </a:solidFill>
                <a:latin typeface="Aptos"/>
              </a:rPr>
              <a:t>11 ? FEEDBACK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22376"/>
            <a:ext cx="10881360" cy="5760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E2723"/>
                </a:solidFill>
                <a:latin typeface="Aptos"/>
              </a:rPr>
              <a:t>Rocchio relevance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53312"/>
            <a:ext cx="1069848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760"/>
                </a:solidFill>
                <a:latin typeface="Aptos"/>
              </a:rPr>
              <a:t>Rocchio adjusts the query toward relevant examples and away from non-relevant examples.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46520"/>
            <a:ext cx="10881360" cy="10972"/>
          </a:xfrm>
          <a:prstGeom prst="rect">
            <a:avLst/>
          </a:prstGeom>
          <a:solidFill>
            <a:srgbClr val="DAE1DC"/>
          </a:solidFill>
          <a:ln>
            <a:solidFill>
              <a:srgbClr val="D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10528"/>
            <a:ext cx="98755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760"/>
                </a:solidFill>
                <a:latin typeface="Aptos"/>
              </a:rPr>
              <a:t>arXiv Scientific Paper Search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6400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760"/>
                </a:solidFill>
                <a:latin typeface="Aptos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1874519"/>
            <a:ext cx="10241280" cy="914400"/>
          </a:xfrm>
          <a:prstGeom prst="roundRect">
            <a:avLst>
              <a:gd name="adj" fmla="val 8000"/>
            </a:avLst>
          </a:prstGeom>
          <a:solidFill>
            <a:srgbClr val="E6F0E9"/>
          </a:solidFill>
          <a:ln>
            <a:solidFill>
              <a:srgbClr val="E6F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139696"/>
            <a:ext cx="978408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2C7052"/>
                </a:solidFill>
                <a:latin typeface="Aptos"/>
              </a:rPr>
              <a:t>q_new = ? ? q_old + ? ? centroid(relevant) ? ? ? centroid(non-relevant)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246120"/>
            <a:ext cx="47548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" y="3246120"/>
            <a:ext cx="50292" cy="1508760"/>
          </a:xfrm>
          <a:prstGeom prst="rect">
            <a:avLst/>
          </a:prstGeom>
          <a:solidFill>
            <a:srgbClr val="2C7052"/>
          </a:solidFill>
          <a:ln>
            <a:solidFill>
              <a:srgbClr val="2C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3410712"/>
            <a:ext cx="4370832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23"/>
                </a:solidFill>
                <a:latin typeface="Aptos"/>
              </a:rPr>
              <a:t>Intended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3822191"/>
            <a:ext cx="4370832" cy="8138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760"/>
                </a:solidFill>
                <a:latin typeface="Aptos"/>
              </a:rPr>
              <a:t>Run an initial search, label feedback documents, update query, rerank.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246120"/>
            <a:ext cx="47548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3246120"/>
            <a:ext cx="50292" cy="1508760"/>
          </a:xfrm>
          <a:prstGeom prst="rect">
            <a:avLst/>
          </a:prstGeom>
          <a:solidFill>
            <a:srgbClr val="BE882E"/>
          </a:solidFill>
          <a:ln>
            <a:solidFill>
              <a:srgbClr val="BE8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7" y="3410712"/>
            <a:ext cx="4370832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23"/>
                </a:solidFill>
                <a:latin typeface="Aptos"/>
              </a:rPr>
              <a:t>Important caveat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7" y="3822191"/>
            <a:ext cx="4370832" cy="8138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760"/>
                </a:solidFill>
                <a:latin typeface="Aptos"/>
              </a:rPr>
              <a:t>A previous run found 0 relevant feedback documents. Treat its reported AP change as unverified.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257800"/>
            <a:ext cx="1005840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BE882E"/>
                </a:solidFill>
                <a:latin typeface="Aptos"/>
              </a:rPr>
              <a:t>Validate category token matching and feedback labels before claiming an improvement.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C7052"/>
          </a:solidFill>
          <a:ln>
            <a:solidFill>
              <a:srgbClr val="2C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9848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C7052"/>
                </a:solidFill>
                <a:latin typeface="Aptos"/>
              </a:rPr>
              <a:t>12 ? CRITICAL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22376"/>
            <a:ext cx="10881360" cy="5760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E2723"/>
                </a:solidFill>
                <a:latin typeface="Aptos"/>
              </a:rPr>
              <a:t>Limitations and next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53312"/>
            <a:ext cx="1069848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760"/>
                </a:solidFill>
                <a:latin typeface="Aptos"/>
              </a:rPr>
              <a:t>The current project is a clear baseline; these upgrades would improve reliability and retrieval quality.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46520"/>
            <a:ext cx="10881360" cy="10972"/>
          </a:xfrm>
          <a:prstGeom prst="rect">
            <a:avLst/>
          </a:prstGeom>
          <a:solidFill>
            <a:srgbClr val="DAE1DC"/>
          </a:solidFill>
          <a:ln>
            <a:solidFill>
              <a:srgbClr val="D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10528"/>
            <a:ext cx="98755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760"/>
                </a:solidFill>
                <a:latin typeface="Aptos"/>
              </a:rPr>
              <a:t>arXiv Scientific Paper Search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6400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760"/>
                </a:solidFill>
                <a:latin typeface="Aptos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507492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828800"/>
            <a:ext cx="50292" cy="3383280"/>
          </a:xfrm>
          <a:prstGeom prst="rect">
            <a:avLst/>
          </a:prstGeom>
          <a:solidFill>
            <a:srgbClr val="BE882E"/>
          </a:solidFill>
          <a:ln>
            <a:solidFill>
              <a:srgbClr val="BE8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1993392"/>
            <a:ext cx="4690872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23"/>
                </a:solidFill>
                <a:latin typeface="Aptos"/>
              </a:rPr>
              <a:t>Current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404872"/>
            <a:ext cx="4690872" cy="26883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760"/>
                </a:solidFill>
                <a:latin typeface="Aptos"/>
              </a:rPr>
              <a:t>? 10,000-record sample, not full arXiv
? Categories approximate relevance
? Rocchio feedback labels need verification
? TF-IDF does not model semantic similarity
? Flask development server is local/demo 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828800"/>
            <a:ext cx="507492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828800"/>
            <a:ext cx="50292" cy="3383280"/>
          </a:xfrm>
          <a:prstGeom prst="rect">
            <a:avLst/>
          </a:prstGeom>
          <a:solidFill>
            <a:srgbClr val="2C7052"/>
          </a:solidFill>
          <a:ln>
            <a:solidFill>
              <a:srgbClr val="2C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993392"/>
            <a:ext cx="4690872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23"/>
                </a:solidFill>
                <a:latin typeface="Aptos"/>
              </a:rPr>
              <a:t>Future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404872"/>
            <a:ext cx="4690872" cy="26883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760"/>
                </a:solidFill>
                <a:latin typeface="Aptos"/>
              </a:rPr>
              <a:t>? Fix and test exact category matching
? Use standard, validated AP/MAP tests
? Build a human-rated test set
? Compare BM25 and semantic embeddings
? Add pagination and date sorting
? Deploy with a production WSGI server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C7052"/>
          </a:solidFill>
          <a:ln>
            <a:solidFill>
              <a:srgbClr val="2C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9848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C7052"/>
                </a:solidFill>
                <a:latin typeface="Aptos"/>
              </a:rPr>
              <a:t>13 ?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22376"/>
            <a:ext cx="10881360" cy="5760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E2723"/>
                </a:solidFill>
                <a:latin typeface="Aptos"/>
              </a:rPr>
              <a:t>Run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53312"/>
            <a:ext cx="1069848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760"/>
                </a:solidFill>
                <a:latin typeface="Aptos"/>
              </a:rPr>
              <a:t>The public repository includes the sample CSV; the virtual environment is intentionally not included.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446520"/>
            <a:ext cx="10881360" cy="10972"/>
          </a:xfrm>
          <a:prstGeom prst="rect">
            <a:avLst/>
          </a:prstGeom>
          <a:solidFill>
            <a:srgbClr val="DAE1DC"/>
          </a:solidFill>
          <a:ln>
            <a:solidFill>
              <a:srgbClr val="D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510528"/>
            <a:ext cx="98755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760"/>
                </a:solidFill>
                <a:latin typeface="Aptos"/>
              </a:rPr>
              <a:t>arXiv Scientific Paper Search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6400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760"/>
                </a:solidFill>
                <a:latin typeface="Aptos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828800"/>
            <a:ext cx="10149840" cy="1965960"/>
          </a:xfrm>
          <a:prstGeom prst="roundRect">
            <a:avLst>
              <a:gd name="adj" fmla="val 8000"/>
            </a:avLst>
          </a:prstGeom>
          <a:solidFill>
            <a:srgbClr val="232B27"/>
          </a:solidFill>
          <a:ln>
            <a:solidFill>
              <a:srgbClr val="232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267712"/>
            <a:ext cx="9509760" cy="10972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scadia Code"/>
              </a:rPr>
              <a:t>python -m pip install -r requirements.txt
python app.py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251960"/>
            <a:ext cx="960120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2C7052"/>
                </a:solidFill>
                <a:latin typeface="Aptos"/>
              </a:rPr>
              <a:t>Open http://127.0.0.1:5000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892040"/>
            <a:ext cx="932688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5B6760"/>
                </a:solidFill>
                <a:latin typeface="Aptos"/>
              </a:rPr>
              <a:t>Demo query: ?graph neural network? ? try category cs.LG ? open a result on arXiv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7052"/>
          </a:solidFill>
          <a:ln>
            <a:solidFill>
              <a:srgbClr val="2C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103327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C7052"/>
                </a:solidFill>
                <a:latin typeface="Aptos"/>
              </a:rPr>
              <a:t>14 ?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33272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E2723"/>
                </a:solidFill>
                <a:latin typeface="Aptos"/>
              </a:rPr>
              <a:t>From research data to ranked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31720"/>
            <a:ext cx="9966960" cy="1005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5B6760"/>
                </a:solidFill>
                <a:latin typeface="Aptos"/>
              </a:rPr>
              <a:t>This project demonstrates an end-to-end baseline: prepare arXiv papers, represent text with TF-IDF, rank by cosine similarity, and explore results through a browser UI.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840480"/>
            <a:ext cx="10241280" cy="18288"/>
          </a:xfrm>
          <a:prstGeom prst="rect">
            <a:avLst/>
          </a:prstGeom>
          <a:solidFill>
            <a:srgbClr val="DAE1DC"/>
          </a:solidFill>
          <a:ln>
            <a:solidFill>
              <a:srgbClr val="DA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51960"/>
            <a:ext cx="9875520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C7052"/>
                </a:solidFill>
                <a:latin typeface="Aptos"/>
              </a:rPr>
              <a:t>Next step: strengthen evaluation, then explore semantic retrieval and deployment.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96012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E2723"/>
                </a:solidFill>
                <a:latin typeface="Aptos"/>
              </a:rPr>
              <a:t>Thank you ? 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510528"/>
            <a:ext cx="104241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760"/>
                </a:solidFill>
                <a:latin typeface="Aptos"/>
              </a:rPr>
              <a:t>arXiv Scientific Paper Search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